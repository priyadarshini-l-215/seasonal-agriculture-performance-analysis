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iyadarshini-L-215/Seasonal-Agriculture-Performance-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3588198"/>
            <a:ext cx="6319157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Name- Priyadarshini L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Name-</a:t>
            </a:r>
            <a:r>
              <a:rPr lang="en-US" b="0" dirty="0" err="1">
                <a:solidFill>
                  <a:schemeClr val="tx1"/>
                </a:solidFill>
              </a:rPr>
              <a:t>Vidyavardhaka</a:t>
            </a:r>
            <a:r>
              <a:rPr lang="en-US" b="0" dirty="0">
                <a:solidFill>
                  <a:schemeClr val="tx1"/>
                </a:solidFill>
              </a:rPr>
              <a:t> College of Engineering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10275775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</a:t>
            </a:r>
            <a:r>
              <a:rPr lang="en-IN" sz="32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723239"/>
            <a:ext cx="7262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STU6850434db4d0c1750090573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376228"/>
            <a:ext cx="6431280" cy="4702615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 algn="just"/>
            <a:r>
              <a:rPr lang="en-IN" sz="1800" dirty="0" err="1"/>
              <a:t>Analyze</a:t>
            </a:r>
            <a:r>
              <a:rPr lang="en-IN" sz="1800" dirty="0"/>
              <a:t> </a:t>
            </a:r>
            <a:r>
              <a:rPr lang="en-IN" sz="1800" b="1" dirty="0"/>
              <a:t>seasonal differences in agricultural performance</a:t>
            </a:r>
            <a:r>
              <a:rPr lang="en-IN" sz="1800" dirty="0"/>
              <a:t>. </a:t>
            </a:r>
          </a:p>
          <a:p>
            <a:pPr lvl="0" algn="just"/>
            <a:r>
              <a:rPr lang="en-IN" sz="1800" dirty="0"/>
              <a:t>Identify </a:t>
            </a:r>
            <a:r>
              <a:rPr lang="en-IN" sz="1800" b="1" dirty="0"/>
              <a:t>patterns, trends, relationships, and variations</a:t>
            </a:r>
            <a:r>
              <a:rPr lang="en-IN" sz="1800" dirty="0"/>
              <a:t> across seasons. </a:t>
            </a:r>
          </a:p>
          <a:p>
            <a:pPr lvl="0" algn="just"/>
            <a:r>
              <a:rPr lang="en-IN" sz="1800" dirty="0"/>
              <a:t>Examine how </a:t>
            </a:r>
            <a:r>
              <a:rPr lang="en-IN" sz="1800" b="1" dirty="0"/>
              <a:t>environmental conditions and farming practices</a:t>
            </a:r>
            <a:r>
              <a:rPr lang="en-IN" sz="1800" dirty="0"/>
              <a:t> affect agricultural outcomes. </a:t>
            </a:r>
          </a:p>
          <a:p>
            <a:pPr lvl="0" algn="just"/>
            <a:r>
              <a:rPr lang="en-IN" sz="1800" dirty="0"/>
              <a:t>Compare </a:t>
            </a:r>
            <a:r>
              <a:rPr lang="en-IN" sz="1800" b="1" dirty="0"/>
              <a:t>yield, resource usage, and economic performance</a:t>
            </a:r>
            <a:r>
              <a:rPr lang="en-IN" sz="1800" dirty="0"/>
              <a:t> across different seasons. </a:t>
            </a:r>
          </a:p>
          <a:p>
            <a:pPr lvl="0" algn="just"/>
            <a:r>
              <a:rPr lang="en-IN" sz="1800" dirty="0"/>
              <a:t>Identify </a:t>
            </a:r>
            <a:r>
              <a:rPr lang="en-IN" sz="1800" b="1" dirty="0"/>
              <a:t>significant or unusual patterns</a:t>
            </a:r>
            <a:r>
              <a:rPr lang="en-IN" sz="1800" dirty="0"/>
              <a:t> to support better seasonal agricultural planning.</a:t>
            </a:r>
          </a:p>
          <a:p>
            <a:pPr lvl="0" algn="just"/>
            <a:r>
              <a:rPr lang="en-IN" sz="1800" dirty="0"/>
              <a:t>Assess how </a:t>
            </a:r>
            <a:r>
              <a:rPr lang="en-IN" sz="1800" b="1" dirty="0"/>
              <a:t>resource usage and environmental conditions</a:t>
            </a:r>
            <a:r>
              <a:rPr lang="en-IN" sz="1800" dirty="0"/>
              <a:t> influence agricultural performance. </a:t>
            </a:r>
          </a:p>
          <a:p>
            <a:pPr lvl="0" algn="just"/>
            <a:r>
              <a:rPr lang="en-IN" sz="1800" dirty="0"/>
              <a:t>Develop </a:t>
            </a:r>
            <a:r>
              <a:rPr lang="en-IN" sz="1800" b="1" dirty="0"/>
              <a:t>insights and recommendations</a:t>
            </a:r>
            <a:r>
              <a:rPr lang="en-IN" sz="1800" dirty="0"/>
              <a:t> for better seasonal crop and resource planning. </a:t>
            </a:r>
          </a:p>
          <a:p>
            <a:pPr lvl="0" algn="just"/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3040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193040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8856CE-59B8-3D8A-DE98-AD01FF86E1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359" y="1335299"/>
            <a:ext cx="8193454" cy="4763900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 algn="just"/>
            <a:r>
              <a:rPr lang="en-IN" sz="1800" dirty="0"/>
              <a:t>This project </a:t>
            </a:r>
            <a:r>
              <a:rPr lang="en-IN" sz="1800" dirty="0" err="1"/>
              <a:t>analyzes</a:t>
            </a:r>
            <a:r>
              <a:rPr lang="en-IN" sz="1800" dirty="0"/>
              <a:t> </a:t>
            </a:r>
            <a:r>
              <a:rPr lang="en-IN" sz="1800" b="1" dirty="0"/>
              <a:t>agricultural performance across different seasons</a:t>
            </a:r>
            <a:r>
              <a:rPr lang="en-IN" sz="1800" dirty="0"/>
              <a:t> using a real-world agricultural dataset. </a:t>
            </a:r>
          </a:p>
          <a:p>
            <a:pPr lvl="0" algn="just"/>
            <a:r>
              <a:rPr lang="en-IN" sz="1800" dirty="0"/>
              <a:t>The dataset includes information about </a:t>
            </a:r>
            <a:r>
              <a:rPr lang="en-IN" sz="1800" b="1" dirty="0"/>
              <a:t>crops, regions, weather conditions, soil characteristics, farming practices, resource usage, yield, and economic performance</a:t>
            </a:r>
            <a:r>
              <a:rPr lang="en-IN" sz="1800" dirty="0"/>
              <a:t>. </a:t>
            </a:r>
          </a:p>
          <a:p>
            <a:pPr lvl="0" algn="just"/>
            <a:r>
              <a:rPr lang="en-IN" sz="1800" dirty="0"/>
              <a:t>The data is </a:t>
            </a:r>
            <a:r>
              <a:rPr lang="en-IN" sz="1800" b="1" dirty="0"/>
              <a:t>cleaned and prepared</a:t>
            </a:r>
            <a:r>
              <a:rPr lang="en-IN" sz="1800" dirty="0"/>
              <a:t> by handling missing values and duplicate records. </a:t>
            </a:r>
          </a:p>
          <a:p>
            <a:pPr lvl="0" algn="just"/>
            <a:r>
              <a:rPr lang="en-IN" sz="1800" b="1" dirty="0"/>
              <a:t>Statistical analysis and data visualizations</a:t>
            </a:r>
            <a:r>
              <a:rPr lang="en-IN" sz="1800" dirty="0"/>
              <a:t> are used to identify seasonal patterns, trends, and relationships. </a:t>
            </a:r>
          </a:p>
          <a:p>
            <a:pPr lvl="0" algn="just"/>
            <a:r>
              <a:rPr lang="en-IN" sz="1800" dirty="0"/>
              <a:t>The project compares </a:t>
            </a:r>
            <a:r>
              <a:rPr lang="en-IN" sz="1800" b="1" dirty="0"/>
              <a:t>yield, profit, water usage, water efficiency, crops, and irrigation methods</a:t>
            </a:r>
            <a:r>
              <a:rPr lang="en-IN" sz="1800" dirty="0"/>
              <a:t> across seasons. </a:t>
            </a:r>
          </a:p>
          <a:p>
            <a:pPr lvl="0" algn="just"/>
            <a:r>
              <a:rPr lang="en-IN" sz="1800" dirty="0"/>
              <a:t>The analysis identifies </a:t>
            </a:r>
            <a:r>
              <a:rPr lang="en-IN" sz="1800" b="1" dirty="0"/>
              <a:t>key insights and unusual patterns</a:t>
            </a:r>
            <a:r>
              <a:rPr lang="en-IN" sz="1800" dirty="0"/>
              <a:t> that can help improve agricultural decision-making. </a:t>
            </a:r>
          </a:p>
          <a:p>
            <a:pPr lvl="0" algn="just"/>
            <a:r>
              <a:rPr lang="en-IN" sz="1800" dirty="0"/>
              <a:t>Finally, </a:t>
            </a:r>
            <a:r>
              <a:rPr lang="en-IN" sz="1800" b="1" dirty="0"/>
              <a:t>evidence-based recommendations</a:t>
            </a:r>
            <a:r>
              <a:rPr lang="en-IN" sz="1800" dirty="0"/>
              <a:t> are provided for better crop selection, irrigation, resource allocation, and seasonal planning.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008" y="2103328"/>
            <a:ext cx="7904481" cy="3990023"/>
          </a:xfrm>
        </p:spPr>
        <p:txBody>
          <a:bodyPr>
            <a:normAutofit fontScale="70000" lnSpcReduction="20000"/>
          </a:bodyPr>
          <a:lstStyle/>
          <a:p>
            <a:pPr lvl="0" algn="just"/>
            <a:r>
              <a:rPr lang="en-IN" sz="3600" b="1" dirty="0"/>
              <a:t>Farmers</a:t>
            </a:r>
            <a:r>
              <a:rPr lang="en-IN" sz="3600" dirty="0"/>
              <a:t> – for better crop, irrigation, and resource planning. </a:t>
            </a:r>
          </a:p>
          <a:p>
            <a:pPr lvl="0" algn="just"/>
            <a:r>
              <a:rPr lang="en-IN" sz="3600" b="1" dirty="0"/>
              <a:t>Agricultural Planners</a:t>
            </a:r>
            <a:r>
              <a:rPr lang="en-IN" sz="3600" dirty="0"/>
              <a:t> – for seasonal agricultural planning and decision-making. </a:t>
            </a:r>
          </a:p>
          <a:p>
            <a:pPr lvl="0" algn="just"/>
            <a:r>
              <a:rPr lang="en-IN" sz="3600" b="1" dirty="0"/>
              <a:t>Agricultural Researchers</a:t>
            </a:r>
            <a:r>
              <a:rPr lang="en-IN" sz="3600" dirty="0"/>
              <a:t> – to study seasonal patterns and crop performance. </a:t>
            </a:r>
          </a:p>
          <a:p>
            <a:pPr lvl="0" algn="just"/>
            <a:r>
              <a:rPr lang="en-IN" sz="3600" b="1" dirty="0"/>
              <a:t>Government &amp; Policy Makers</a:t>
            </a:r>
            <a:r>
              <a:rPr lang="en-IN" sz="3600" dirty="0"/>
              <a:t> – to support agricultural policies and resource allocation. </a:t>
            </a:r>
          </a:p>
          <a:p>
            <a:pPr lvl="0" algn="just"/>
            <a:r>
              <a:rPr lang="en-IN" sz="3600" b="1" dirty="0"/>
              <a:t>Agricultural Organizations</a:t>
            </a:r>
            <a:r>
              <a:rPr lang="en-IN" sz="3600" dirty="0"/>
              <a:t> – to improve farming practices and manage risks.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82149" y="1385907"/>
            <a:ext cx="9027702" cy="5243448"/>
          </a:xfrm>
        </p:spPr>
        <p:txBody>
          <a:bodyPr/>
          <a:lstStyle/>
          <a:p>
            <a:pPr lvl="0"/>
            <a:r>
              <a:rPr lang="en-IN" b="1" dirty="0"/>
              <a:t>Python</a:t>
            </a:r>
            <a:r>
              <a:rPr lang="en-IN" dirty="0"/>
              <a:t> – Data analysis and processing </a:t>
            </a:r>
          </a:p>
          <a:p>
            <a:pPr lvl="0"/>
            <a:r>
              <a:rPr lang="en-IN" b="1" dirty="0"/>
              <a:t>Pandas</a:t>
            </a:r>
            <a:r>
              <a:rPr lang="en-IN" dirty="0"/>
              <a:t> – Data cleaning and manipulation </a:t>
            </a:r>
          </a:p>
          <a:p>
            <a:pPr lvl="0"/>
            <a:r>
              <a:rPr lang="en-IN" b="1" dirty="0"/>
              <a:t>NumPy</a:t>
            </a:r>
            <a:r>
              <a:rPr lang="en-IN" dirty="0"/>
              <a:t> – Numerical computations </a:t>
            </a:r>
          </a:p>
          <a:p>
            <a:pPr lvl="0"/>
            <a:r>
              <a:rPr lang="en-IN" b="1" dirty="0"/>
              <a:t>Matplotlib</a:t>
            </a:r>
            <a:r>
              <a:rPr lang="en-IN" dirty="0"/>
              <a:t> – Data visualization </a:t>
            </a:r>
          </a:p>
          <a:p>
            <a:pPr lvl="0"/>
            <a:r>
              <a:rPr lang="en-IN" b="1" dirty="0"/>
              <a:t>Seaborn</a:t>
            </a:r>
            <a:r>
              <a:rPr lang="en-IN" dirty="0"/>
              <a:t> – Statistical visualizations </a:t>
            </a:r>
          </a:p>
          <a:p>
            <a:pPr lvl="0"/>
            <a:r>
              <a:rPr lang="en-IN" b="1" dirty="0"/>
              <a:t>SciPy</a:t>
            </a:r>
            <a:r>
              <a:rPr lang="en-IN" dirty="0"/>
              <a:t> – Statistical analysis </a:t>
            </a:r>
          </a:p>
          <a:p>
            <a:pPr lvl="0"/>
            <a:r>
              <a:rPr lang="en-IN" b="1" dirty="0"/>
              <a:t>Jupyter Notebook</a:t>
            </a:r>
            <a:r>
              <a:rPr lang="en-IN" dirty="0"/>
              <a:t> – Analysis and documentation </a:t>
            </a:r>
          </a:p>
          <a:p>
            <a:pPr lvl="0"/>
            <a:r>
              <a:rPr lang="en-IN" b="1" dirty="0"/>
              <a:t>VS Code</a:t>
            </a:r>
            <a:r>
              <a:rPr lang="en-IN" dirty="0"/>
              <a:t> – Development environment </a:t>
            </a:r>
          </a:p>
          <a:p>
            <a:pPr lvl="0"/>
            <a:r>
              <a:rPr lang="en-IN" b="1" dirty="0"/>
              <a:t>Git &amp; GitHub</a:t>
            </a:r>
            <a:r>
              <a:rPr lang="en-IN" dirty="0"/>
              <a:t> – Version control and project management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149" y="414459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14D944-9093-5A00-DC6A-CDA87BAB2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98" y="1275371"/>
            <a:ext cx="6050804" cy="2726602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55DCA1B-EF7C-99D6-596B-7D2937C762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4136103"/>
            <a:ext cx="6431280" cy="4702615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IN" sz="1800" dirty="0"/>
              <a:t>Most crop yields are concentrated in the </a:t>
            </a:r>
            <a:r>
              <a:rPr lang="en-IN" sz="1800" b="1" dirty="0"/>
              <a:t>lower range</a:t>
            </a:r>
            <a:r>
              <a:rPr lang="en-IN" sz="1800" dirty="0"/>
              <a:t>. </a:t>
            </a:r>
          </a:p>
          <a:p>
            <a:pPr lvl="0"/>
            <a:r>
              <a:rPr lang="en-IN" sz="1800" dirty="0"/>
              <a:t>The distribution is </a:t>
            </a:r>
            <a:r>
              <a:rPr lang="en-IN" sz="1800" b="1" dirty="0"/>
              <a:t>highly right-skewed</a:t>
            </a:r>
            <a:r>
              <a:rPr lang="en-IN" sz="1800" dirty="0"/>
              <a:t>. </a:t>
            </a:r>
          </a:p>
          <a:p>
            <a:pPr lvl="0"/>
            <a:r>
              <a:rPr lang="en-IN" sz="1800" dirty="0"/>
              <a:t>Several </a:t>
            </a:r>
            <a:r>
              <a:rPr lang="en-IN" sz="1800" b="1" dirty="0"/>
              <a:t>high-yield outliers</a:t>
            </a:r>
            <a:r>
              <a:rPr lang="en-IN" sz="1800" dirty="0"/>
              <a:t> are present. </a:t>
            </a:r>
          </a:p>
          <a:p>
            <a:pPr lvl="0"/>
            <a:r>
              <a:rPr lang="en-IN" sz="1800" dirty="0"/>
              <a:t>Some outliers reach </a:t>
            </a:r>
            <a:r>
              <a:rPr lang="en-IN" sz="1800" b="1" dirty="0"/>
              <a:t>above 100 tonnes/ha</a:t>
            </a:r>
            <a:r>
              <a:rPr lang="en-IN" sz="1800" dirty="0"/>
              <a:t>. </a:t>
            </a:r>
          </a:p>
          <a:p>
            <a:pPr lvl="0"/>
            <a:r>
              <a:rPr lang="en-IN" sz="1800" dirty="0"/>
              <a:t>This indicates </a:t>
            </a:r>
            <a:r>
              <a:rPr lang="en-IN" sz="1800" b="1" dirty="0"/>
              <a:t>considerable variation in crop yield</a:t>
            </a:r>
            <a:r>
              <a:rPr lang="en-IN" sz="1800" dirty="0"/>
              <a:t> across the farms.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141D49-7134-F4AD-1D90-A6DA9FDFF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74" y="1275371"/>
            <a:ext cx="6550090" cy="2449842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432C462C-62CF-9ABF-1955-B2A0CB1ABA8F}"/>
              </a:ext>
            </a:extLst>
          </p:cNvPr>
          <p:cNvSpPr txBox="1">
            <a:spLocks/>
          </p:cNvSpPr>
          <p:nvPr/>
        </p:nvSpPr>
        <p:spPr>
          <a:xfrm>
            <a:off x="601312" y="4037859"/>
            <a:ext cx="7013298" cy="47026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1800" b="1" dirty="0"/>
              <a:t>Sugarcane has the highest yield</a:t>
            </a:r>
            <a:r>
              <a:rPr lang="en-IN" sz="1800" dirty="0"/>
              <a:t> in all three seasons. </a:t>
            </a:r>
          </a:p>
          <a:p>
            <a:pPr lvl="0"/>
            <a:r>
              <a:rPr lang="en-IN" sz="1800" dirty="0"/>
              <a:t>Kharif shows the </a:t>
            </a:r>
            <a:r>
              <a:rPr lang="en-IN" sz="1800" b="1" dirty="0"/>
              <a:t>highest Sugarcane yield (53.46 tonnes/ha)</a:t>
            </a:r>
            <a:r>
              <a:rPr lang="en-IN" sz="1800" dirty="0"/>
              <a:t>. </a:t>
            </a:r>
          </a:p>
          <a:p>
            <a:pPr lvl="0"/>
            <a:r>
              <a:rPr lang="en-IN" sz="1800" dirty="0"/>
              <a:t>Rabi Sugarcane yield is </a:t>
            </a:r>
            <a:r>
              <a:rPr lang="en-IN" sz="1800" b="1" dirty="0"/>
              <a:t>43.94 tonnes/ha</a:t>
            </a:r>
            <a:r>
              <a:rPr lang="en-IN" sz="1800" dirty="0"/>
              <a:t>, while Zaid is </a:t>
            </a:r>
            <a:r>
              <a:rPr lang="en-IN" sz="1800" b="1" dirty="0"/>
              <a:t>38.42 tonnes/ha</a:t>
            </a:r>
            <a:r>
              <a:rPr lang="en-IN" sz="1800" dirty="0"/>
              <a:t>. </a:t>
            </a:r>
          </a:p>
          <a:p>
            <a:pPr lvl="0"/>
            <a:r>
              <a:rPr lang="en-IN" sz="1800" dirty="0"/>
              <a:t>For other crops, </a:t>
            </a:r>
            <a:r>
              <a:rPr lang="en-IN" sz="1800" b="1" dirty="0"/>
              <a:t>Maize and Rice</a:t>
            </a:r>
            <a:r>
              <a:rPr lang="en-IN" sz="1800" dirty="0"/>
              <a:t> show relatively higher yields across seasons. </a:t>
            </a:r>
          </a:p>
          <a:p>
            <a:pPr lvl="0"/>
            <a:r>
              <a:rPr lang="en-IN" sz="1800" b="1" dirty="0"/>
              <a:t>Pulses and Cotton</a:t>
            </a:r>
            <a:r>
              <a:rPr lang="en-IN" sz="1800" dirty="0"/>
              <a:t> have comparatively lower yields in all seasons.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7D2376-A1A7-1167-9F18-405E8B08C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85" y="1108279"/>
            <a:ext cx="6631915" cy="3429050"/>
          </a:xfrm>
          <a:prstGeom prst="rect">
            <a:avLst/>
          </a:prstGeom>
        </p:spPr>
      </p:pic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4914DD0D-D7A2-99A8-6E47-7DF3FDECE527}"/>
              </a:ext>
            </a:extLst>
          </p:cNvPr>
          <p:cNvSpPr txBox="1">
            <a:spLocks/>
          </p:cNvSpPr>
          <p:nvPr/>
        </p:nvSpPr>
        <p:spPr>
          <a:xfrm>
            <a:off x="675957" y="4313652"/>
            <a:ext cx="7013298" cy="47026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en-IN" sz="1800" b="1" dirty="0"/>
              <a:t>Yield and Water Efficiency</a:t>
            </a:r>
            <a:r>
              <a:rPr lang="en-IN" sz="1800" dirty="0"/>
              <a:t> show a very strong positive correlation (</a:t>
            </a:r>
            <a:r>
              <a:rPr lang="en-IN" sz="1800" b="1" dirty="0"/>
              <a:t>0.92</a:t>
            </a:r>
            <a:r>
              <a:rPr lang="en-IN" sz="1800" dirty="0"/>
              <a:t>). </a:t>
            </a:r>
          </a:p>
          <a:p>
            <a:pPr lvl="0" algn="just"/>
            <a:r>
              <a:rPr lang="en-IN" sz="1800" b="1" dirty="0"/>
              <a:t>Yield and Production</a:t>
            </a:r>
            <a:r>
              <a:rPr lang="en-IN" sz="1800" dirty="0"/>
              <a:t> also have a strong positive correlation (</a:t>
            </a:r>
            <a:r>
              <a:rPr lang="en-IN" sz="1800" b="1" dirty="0"/>
              <a:t>0.89</a:t>
            </a:r>
            <a:r>
              <a:rPr lang="en-IN" sz="1800" dirty="0"/>
              <a:t>). </a:t>
            </a:r>
          </a:p>
          <a:p>
            <a:pPr lvl="0" algn="just"/>
            <a:r>
              <a:rPr lang="en-IN" sz="1800" b="1" dirty="0"/>
              <a:t>Revenue and Profit</a:t>
            </a:r>
            <a:r>
              <a:rPr lang="en-IN" sz="1800" dirty="0"/>
              <a:t> show a strong positive correlation (</a:t>
            </a:r>
            <a:r>
              <a:rPr lang="en-IN" sz="1800" b="1" dirty="0"/>
              <a:t>0.89</a:t>
            </a:r>
            <a:r>
              <a:rPr lang="en-IN" sz="1800" dirty="0"/>
              <a:t>). </a:t>
            </a:r>
          </a:p>
          <a:p>
            <a:pPr lvl="0" algn="just"/>
            <a:r>
              <a:rPr lang="en-IN" sz="1800" b="1" dirty="0"/>
              <a:t>Farm Area and Total Cost</a:t>
            </a:r>
            <a:r>
              <a:rPr lang="en-IN" sz="1800" dirty="0"/>
              <a:t> have a very strong positive correlation (</a:t>
            </a:r>
            <a:r>
              <a:rPr lang="en-IN" sz="1800" b="1" dirty="0"/>
              <a:t>0.96</a:t>
            </a:r>
            <a:r>
              <a:rPr lang="en-IN" sz="1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2467AA-A17C-F3C2-1893-B093CBA54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28" y="1344507"/>
            <a:ext cx="5619357" cy="2910252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3F0A9CE-7248-2FD8-5D8B-32C33FA389D3}"/>
              </a:ext>
            </a:extLst>
          </p:cNvPr>
          <p:cNvSpPr txBox="1">
            <a:spLocks/>
          </p:cNvSpPr>
          <p:nvPr/>
        </p:nvSpPr>
        <p:spPr>
          <a:xfrm>
            <a:off x="675957" y="4313652"/>
            <a:ext cx="7013298" cy="47026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en-IN" sz="1800" b="1" dirty="0"/>
              <a:t>Kharif receives the highest rainfall</a:t>
            </a:r>
            <a:r>
              <a:rPr lang="en-IN" sz="1800" dirty="0"/>
              <a:t> among all seasons. </a:t>
            </a:r>
          </a:p>
          <a:p>
            <a:pPr lvl="0" algn="just"/>
            <a:r>
              <a:rPr lang="en-IN" sz="1800" b="1" dirty="0"/>
              <a:t>Zaid has the lowest rainfall</a:t>
            </a:r>
            <a:r>
              <a:rPr lang="en-IN" sz="1800" dirty="0"/>
              <a:t>, while Rabi falls in between. </a:t>
            </a:r>
          </a:p>
          <a:p>
            <a:pPr lvl="0" algn="just"/>
            <a:r>
              <a:rPr lang="en-IN" sz="1800" dirty="0"/>
              <a:t>Kharif shows </a:t>
            </a:r>
            <a:r>
              <a:rPr lang="en-IN" sz="1800" b="1" dirty="0"/>
              <a:t>greater rainfall variation</a:t>
            </a:r>
            <a:r>
              <a:rPr lang="en-IN" sz="1800" dirty="0"/>
              <a:t> across farms. </a:t>
            </a:r>
          </a:p>
          <a:p>
            <a:pPr lvl="0" algn="just"/>
            <a:r>
              <a:rPr lang="en-IN" sz="1800" dirty="0"/>
              <a:t>Several </a:t>
            </a:r>
            <a:r>
              <a:rPr lang="en-IN" sz="1800" b="1" dirty="0"/>
              <a:t>rainfall outliers</a:t>
            </a:r>
            <a:r>
              <a:rPr lang="en-IN" sz="1800" dirty="0"/>
              <a:t> are visible in Kharif and Rabi. </a:t>
            </a:r>
          </a:p>
          <a:p>
            <a:pPr lvl="0" algn="just"/>
            <a:r>
              <a:rPr lang="en-IN" sz="1800" dirty="0"/>
              <a:t>The results highlight </a:t>
            </a:r>
            <a:r>
              <a:rPr lang="en-IN" sz="1800" b="1" dirty="0"/>
              <a:t>clear seasonal differences in rainfall patterns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2F49F-9122-F464-86EC-E0FBC874F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02" y="1035506"/>
            <a:ext cx="5708631" cy="2801247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933F7D6-510F-5D0A-8D63-DCB6F308A792}"/>
              </a:ext>
            </a:extLst>
          </p:cNvPr>
          <p:cNvSpPr txBox="1">
            <a:spLocks/>
          </p:cNvSpPr>
          <p:nvPr/>
        </p:nvSpPr>
        <p:spPr>
          <a:xfrm>
            <a:off x="607882" y="3848222"/>
            <a:ext cx="7730925" cy="47026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en-IN" sz="1800" b="1" dirty="0"/>
              <a:t>Kharif</a:t>
            </a:r>
            <a:r>
              <a:rPr lang="en-IN" sz="1800" dirty="0"/>
              <a:t> shows several high-yield observations at temperatures around </a:t>
            </a:r>
            <a:r>
              <a:rPr lang="en-IN" sz="1800" b="1" dirty="0"/>
              <a:t>25–31°C</a:t>
            </a:r>
            <a:r>
              <a:rPr lang="en-IN" sz="1800" dirty="0"/>
              <a:t>. </a:t>
            </a:r>
          </a:p>
          <a:p>
            <a:pPr lvl="0" algn="just"/>
            <a:r>
              <a:rPr lang="en-IN" sz="1800" b="1" dirty="0"/>
              <a:t>Rabi</a:t>
            </a:r>
            <a:r>
              <a:rPr lang="en-IN" sz="1800" dirty="0"/>
              <a:t> has high-yield observations mainly around </a:t>
            </a:r>
            <a:r>
              <a:rPr lang="en-IN" sz="1800" b="1" dirty="0"/>
              <a:t>20–29°C</a:t>
            </a:r>
            <a:r>
              <a:rPr lang="en-IN" sz="1800" dirty="0"/>
              <a:t>. </a:t>
            </a:r>
          </a:p>
          <a:p>
            <a:pPr lvl="0" algn="just"/>
            <a:r>
              <a:rPr lang="en-IN" sz="1800" b="1" dirty="0"/>
              <a:t>Zaid</a:t>
            </a:r>
            <a:r>
              <a:rPr lang="en-IN" sz="1800" dirty="0"/>
              <a:t> generally occurs at </a:t>
            </a:r>
            <a:r>
              <a:rPr lang="en-IN" sz="1800" b="1" dirty="0"/>
              <a:t>higher temperatures</a:t>
            </a:r>
            <a:r>
              <a:rPr lang="en-IN" sz="1800" dirty="0"/>
              <a:t>, with many observations around </a:t>
            </a:r>
            <a:r>
              <a:rPr lang="en-IN" sz="1800" b="1" dirty="0"/>
              <a:t>28–35°C</a:t>
            </a:r>
            <a:r>
              <a:rPr lang="en-IN" sz="1800" dirty="0"/>
              <a:t>. </a:t>
            </a:r>
          </a:p>
          <a:p>
            <a:pPr lvl="0" algn="just"/>
            <a:r>
              <a:rPr lang="en-IN" sz="1800" dirty="0"/>
              <a:t>Yield varies considerably even at similar temperatures, indicating that </a:t>
            </a:r>
            <a:r>
              <a:rPr lang="en-IN" sz="1800" b="1" dirty="0"/>
              <a:t>temperature alone does not determine yield</a:t>
            </a:r>
            <a:r>
              <a:rPr lang="en-IN" sz="1800" dirty="0"/>
              <a:t>. </a:t>
            </a:r>
          </a:p>
          <a:p>
            <a:pPr lvl="0" algn="just"/>
            <a:r>
              <a:rPr lang="en-IN" sz="1800" dirty="0"/>
              <a:t>The plot shows </a:t>
            </a:r>
            <a:r>
              <a:rPr lang="en-IN" sz="1800" b="1" dirty="0"/>
              <a:t>different temperature–yield patterns across seasons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63" y="363658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1C2B82-45B4-5BFE-AC8C-13A49749BC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1376228"/>
            <a:ext cx="6555267" cy="4702615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 algn="just"/>
            <a:r>
              <a:rPr lang="en-IN" sz="1800" dirty="0"/>
              <a:t>Develop </a:t>
            </a:r>
            <a:r>
              <a:rPr lang="en-IN" sz="1800" b="1" dirty="0"/>
              <a:t>predictive models</a:t>
            </a:r>
            <a:r>
              <a:rPr lang="en-IN" sz="1800" dirty="0"/>
              <a:t> to forecast crop yield and profitability. </a:t>
            </a:r>
          </a:p>
          <a:p>
            <a:pPr lvl="0" algn="just"/>
            <a:r>
              <a:rPr lang="en-IN" sz="1800" dirty="0"/>
              <a:t>Use </a:t>
            </a:r>
            <a:r>
              <a:rPr lang="en-IN" sz="1800" b="1" dirty="0"/>
              <a:t>real-time weather and soil data</a:t>
            </a:r>
            <a:r>
              <a:rPr lang="en-IN" sz="1800" dirty="0"/>
              <a:t> for more accurate analysis. </a:t>
            </a:r>
          </a:p>
          <a:p>
            <a:pPr lvl="0" algn="just"/>
            <a:r>
              <a:rPr lang="en-IN" sz="1800" dirty="0"/>
              <a:t>Build a </a:t>
            </a:r>
            <a:r>
              <a:rPr lang="en-IN" sz="1800" b="1" dirty="0"/>
              <a:t>dashboard</a:t>
            </a:r>
            <a:r>
              <a:rPr lang="en-IN" sz="1800" dirty="0"/>
              <a:t> for interactive seasonal performance monitoring. </a:t>
            </a:r>
          </a:p>
          <a:p>
            <a:pPr lvl="0" algn="just"/>
            <a:r>
              <a:rPr lang="en-IN" sz="1800" dirty="0"/>
              <a:t>Extend the analysis to </a:t>
            </a:r>
            <a:r>
              <a:rPr lang="en-IN" sz="1800" b="1" dirty="0"/>
              <a:t>more regions, crops, and multiple years</a:t>
            </a:r>
            <a:r>
              <a:rPr lang="en-IN" sz="1800" dirty="0"/>
              <a:t>. </a:t>
            </a:r>
          </a:p>
          <a:p>
            <a:pPr lvl="0" algn="just"/>
            <a:r>
              <a:rPr lang="en-IN" sz="1800" dirty="0"/>
              <a:t>Use </a:t>
            </a:r>
            <a:r>
              <a:rPr lang="en-IN" sz="1800" b="1" dirty="0"/>
              <a:t>machine learning</a:t>
            </a:r>
            <a:r>
              <a:rPr lang="en-IN" sz="1800" dirty="0"/>
              <a:t> to recommend suitable crops, irrigation, and resource allocation.</a:t>
            </a:r>
          </a:p>
          <a:p>
            <a:pPr lvl="0" algn="just"/>
            <a:r>
              <a:rPr lang="en-IN" sz="1800" dirty="0"/>
              <a:t>Develop </a:t>
            </a:r>
            <a:r>
              <a:rPr lang="en-IN" sz="1800" b="1" dirty="0"/>
              <a:t>early warning systems</a:t>
            </a:r>
            <a:r>
              <a:rPr lang="en-IN" sz="1800" dirty="0"/>
              <a:t> for crop disease and pest risks. </a:t>
            </a:r>
          </a:p>
          <a:p>
            <a:pPr lvl="0" algn="just"/>
            <a:r>
              <a:rPr lang="en-IN" sz="1800" dirty="0"/>
              <a:t>Integrate </a:t>
            </a:r>
            <a:r>
              <a:rPr lang="en-IN" sz="1800" b="1" dirty="0"/>
              <a:t>market price trends</a:t>
            </a:r>
            <a:r>
              <a:rPr lang="en-IN" sz="1800" dirty="0"/>
              <a:t> to improve farmers’ profitability and crop-selection decisions. </a:t>
            </a:r>
          </a:p>
          <a:p>
            <a:pPr lvl="0" algn="just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607958" y="2559994"/>
            <a:ext cx="935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hlinkClick r:id="rId3"/>
              </a:rPr>
              <a:t>https://github.com/Priyadarshini-L-215/Seasonal-Agriculture-Performance-Analysis.git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4570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636C28-199F-466D-2ACB-5F9E66FCD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519" y="1508322"/>
            <a:ext cx="7178662" cy="506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9805" y="2843113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1377</TotalTime>
  <Words>733</Words>
  <Application>Microsoft Office PowerPoint</Application>
  <PresentationFormat>Widescreen</PresentationFormat>
  <Paragraphs>80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-Seasonal Agriculture Performance Analysis</vt:lpstr>
      <vt:lpstr>PROBLEM  STATEMENT</vt:lpstr>
      <vt:lpstr>Project Description 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Priyadarshini L</cp:lastModifiedBy>
  <cp:revision>112</cp:revision>
  <dcterms:created xsi:type="dcterms:W3CDTF">2021-07-11T13:13:15Z</dcterms:created>
  <dcterms:modified xsi:type="dcterms:W3CDTF">2026-09-15T13:22:38Z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